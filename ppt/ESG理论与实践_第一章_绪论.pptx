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globalcompact.org/docs/issues_doc/Financial_markets/who_cares_who_wins.pd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dgs.un.org/2030agenda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v.cn/zhengce/content/2021-10/26/content_5644984.ht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globalcompact.org/docs/issues_doc/Financial_markets/who_cares_who_wins.pdf" TargetMode="External"/><Relationship Id="rId3" Type="http://schemas.openxmlformats.org/officeDocument/2006/relationships/hyperlink" Target="https://news.un.org/zh/story/2006/04/53132" TargetMode="External"/><Relationship Id="rId4" Type="http://schemas.openxmlformats.org/officeDocument/2006/relationships/hyperlink" Target="https://sdgs.un.org/2030agenda" TargetMode="External"/><Relationship Id="rId5" Type="http://schemas.openxmlformats.org/officeDocument/2006/relationships/hyperlink" Target="https://www.ifrs.org/news-and-events/news/2023/06/issb-issues-ifrs-s1-ifrs-s2/" TargetMode="External"/><Relationship Id="rId6" Type="http://schemas.openxmlformats.org/officeDocument/2006/relationships/hyperlink" Target="https://www.gov.cn/zhengce/2021-10/24/content_5644613.htm" TargetMode="External"/><Relationship Id="rId7" Type="http://schemas.openxmlformats.org/officeDocument/2006/relationships/hyperlink" Target="https://www.gov.cn/zhengce/content/2021-10/26/content_5644984.htm" TargetMode="External"/><Relationship Id="rId8" Type="http://schemas.openxmlformats.org/officeDocument/2006/relationships/hyperlink" Target="https://www.sse.com.cn/lawandrules/sselawsrules/stocks/mainipo/c/c_20240412_10753180.s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0" y="-411480"/>
            <a:ext cx="4251960" cy="4251960"/>
          </a:xfrm>
          <a:prstGeom prst="roundRect">
            <a:avLst/>
          </a:prstGeom>
          <a:solidFill>
            <a:srgbClr val="18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365760"/>
            <a:ext cx="2560320" cy="2560320"/>
          </a:xfrm>
          <a:prstGeom prst="round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21240" y="1024128"/>
            <a:ext cx="1280160" cy="128016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5852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AFC1CE"/>
                </a:solidFill>
                <a:latin typeface="Microsoft YaHei"/>
              </a:rPr>
              <a:t>课程导论  /  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754880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6200" b="1">
                <a:solidFill>
                  <a:srgbClr val="FFFFFF"/>
                </a:solidFill>
                <a:latin typeface="Microsoft YaHei"/>
              </a:rPr>
              <a:t>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523744"/>
            <a:ext cx="57607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理论与实践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364992"/>
            <a:ext cx="4572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100" b="0">
                <a:solidFill>
                  <a:srgbClr val="C7D7E1"/>
                </a:solidFill>
                <a:latin typeface="Microsoft YaHei"/>
              </a:rPr>
              <a:t>第一章  绪论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4096512"/>
            <a:ext cx="594360" cy="45720"/>
          </a:xfrm>
          <a:prstGeom prst="rect">
            <a:avLst/>
          </a:prstGeom>
          <a:solidFill>
            <a:srgbClr val="E8B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407408"/>
            <a:ext cx="6492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0">
                <a:solidFill>
                  <a:srgbClr val="D7E3EA"/>
                </a:solidFill>
                <a:latin typeface="Microsoft YaHei"/>
              </a:rPr>
              <a:t>从环境、社会与治理，理解组织的长期价值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98932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AFC1CE"/>
                </a:solidFill>
                <a:latin typeface="Microsoft YaHei"/>
              </a:rPr>
              <a:t>本科课程 · 教学课件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AFC1CE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导入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本章学习路线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可先请学生举例：企业利润之外，还有哪些表现会影响长期发展？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52578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901952"/>
            <a:ext cx="512064" cy="512064"/>
          </a:xfrm>
          <a:prstGeom prst="roundRect">
            <a:avLst/>
          </a:prstGeom>
          <a:solidFill>
            <a:srgbClr val="E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2996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92024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说清概念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23160"/>
            <a:ext cx="38862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解释 ESG 与 E / S / G 三个维度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64208"/>
            <a:ext cx="52578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1901952"/>
            <a:ext cx="512064" cy="512064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02996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4879B5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92024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看懂体系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423160"/>
            <a:ext cx="38862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描述议题如何进入管理、披露与决策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38728"/>
            <a:ext cx="52578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3776472"/>
            <a:ext cx="512064" cy="512064"/>
          </a:xfrm>
          <a:prstGeom prst="roundRect">
            <a:avLst/>
          </a:prstGeom>
          <a:solidFill>
            <a:srgbClr val="FB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90448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D57B46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9476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联系目标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297680"/>
            <a:ext cx="38862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区分 ESG 与 SDGs，并说明二者如何衔接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538728"/>
            <a:ext cx="52578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3776472"/>
            <a:ext cx="512064" cy="512064"/>
          </a:xfrm>
          <a:prstGeom prst="roundRect">
            <a:avLst/>
          </a:prstGeom>
          <a:solidFill>
            <a:srgbClr val="F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04488"/>
            <a:ext cx="51206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8A6CB1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79476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回到中国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297680"/>
            <a:ext cx="388620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结合政策与企业情境讨论实践意义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第一节  概念与体系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ESG是什么？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强调“分析与管理视角”，不要把 ESG 等同于环保或某一个评级分数。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6812280" cy="3639312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6080760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ESG 是观察组织可持续发展相关议题的一组维度。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56432"/>
            <a:ext cx="5806440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0">
                <a:solidFill>
                  <a:srgbClr val="C7D7E1"/>
                </a:solidFill>
                <a:latin typeface="Microsoft YaHei"/>
              </a:rPr>
              <a:t>帮助组织识别议题、管理影响与风险，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0">
                <a:solidFill>
                  <a:srgbClr val="C7D7E1"/>
                </a:solidFill>
                <a:latin typeface="Microsoft YaHei"/>
              </a:rPr>
              <a:t>并沟通行动与表现。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62672" y="1664208"/>
            <a:ext cx="3931920" cy="1005840"/>
          </a:xfrm>
          <a:prstGeom prst="roundRect">
            <a:avLst/>
          </a:prstGeom>
          <a:solidFill>
            <a:srgbClr val="E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96596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2C8C70"/>
                </a:solidFill>
                <a:latin typeface="Microsoft YaHei"/>
              </a:rPr>
              <a:t>E  环境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2880360"/>
            <a:ext cx="3931920" cy="1005840"/>
          </a:xfrm>
          <a:prstGeom prst="roundRect">
            <a:avLst/>
          </a:prstGeom>
          <a:solidFill>
            <a:srgbClr val="FB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3182112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D57B46"/>
                </a:solidFill>
                <a:latin typeface="Microsoft YaHei"/>
              </a:rPr>
              <a:t>S  社会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4096512"/>
            <a:ext cx="3931920" cy="1005840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398264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4879B5"/>
                </a:solidFill>
                <a:latin typeface="Microsoft YaHei"/>
              </a:rPr>
              <a:t>G  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705856"/>
            <a:ext cx="10698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617487"/>
                </a:solidFill>
                <a:latin typeface="Microsoft YaHei"/>
              </a:rPr>
              <a:t>具体议题会因行业、地区与组织活动而不同。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第一节  概念与体系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三个维度，关注不同问题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让学生把熟悉的企业或校园组织，分别放入 E、S、G 维度试着举例。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5021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73152" cy="4160520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74520"/>
            <a:ext cx="30449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C8C70"/>
                </a:solidFill>
                <a:latin typeface="Microsoft YaHei"/>
              </a:rPr>
              <a:t>E  / 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1">
                <a:solidFill>
                  <a:srgbClr val="183149"/>
                </a:solidFill>
                <a:latin typeface="Microsoft YaHei"/>
              </a:rPr>
              <a:t>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07208"/>
            <a:ext cx="3044952" cy="28346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能源与排放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污染防治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水资源与生态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追问：经营活动如何影响自然环境？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64208"/>
            <a:ext cx="35021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64208"/>
            <a:ext cx="73152" cy="4160520"/>
          </a:xfrm>
          <a:prstGeom prst="rect">
            <a:avLst/>
          </a:prstGeom>
          <a:solidFill>
            <a:srgbClr val="D57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0449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D57B46"/>
                </a:solidFill>
                <a:latin typeface="Microsoft YaHei"/>
              </a:rPr>
              <a:t>S  /  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58568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1">
                <a:solidFill>
                  <a:srgbClr val="183149"/>
                </a:solidFill>
                <a:latin typeface="Microsoft YaHei"/>
              </a:rPr>
              <a:t>社会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07208"/>
            <a:ext cx="3044952" cy="28346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员工权益与安全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消费者与产品责任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供应链与社区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追问：谁受到组织活动影响？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64208"/>
            <a:ext cx="3502152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664208"/>
            <a:ext cx="73152" cy="4160520"/>
          </a:xfrm>
          <a:prstGeom prst="rect">
            <a:avLst/>
          </a:prstGeom>
          <a:solidFill>
            <a:srgbClr val="487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874520"/>
            <a:ext cx="30449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4879B5"/>
                </a:solidFill>
                <a:latin typeface="Microsoft YaHei"/>
              </a:rPr>
              <a:t>G  / 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258568"/>
            <a:ext cx="304495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1">
                <a:solidFill>
                  <a:srgbClr val="183149"/>
                </a:solidFill>
                <a:latin typeface="Microsoft YaHei"/>
              </a:rPr>
              <a:t>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807208"/>
            <a:ext cx="3044952" cy="28346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董事会与监督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商业伦理与合规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风险管理与透明度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追问：谁负责决策、监督与问责？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第一节  概念与体系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ESG如何进入管理？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说明这是一种便于教学的管理流程，不是唯一或强制的标准流程。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96596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432304"/>
            <a:ext cx="448056" cy="448056"/>
          </a:xfrm>
          <a:prstGeom prst="round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448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6393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议题与相关方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6265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2100" b="1">
                <a:solidFill>
                  <a:srgbClr val="617487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6936" y="2240280"/>
            <a:ext cx="196596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81528" y="2432304"/>
            <a:ext cx="448056" cy="448056"/>
          </a:xfrm>
          <a:prstGeom prst="roundRect">
            <a:avLst/>
          </a:prstGeom>
          <a:solidFill>
            <a:srgbClr val="487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551176"/>
            <a:ext cx="448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3127248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36393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影响、风险与机会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96265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2100" b="1">
                <a:solidFill>
                  <a:srgbClr val="617487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2240280"/>
            <a:ext cx="196596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31536" y="2432304"/>
            <a:ext cx="448056" cy="448056"/>
          </a:xfrm>
          <a:prstGeom prst="roundRect">
            <a:avLst/>
          </a:prstGeom>
          <a:solidFill>
            <a:srgbClr val="D57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6" y="2551176"/>
            <a:ext cx="448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3127248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行动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36393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责任、目标与资源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96265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2100" b="1">
                <a:solidFill>
                  <a:srgbClr val="617487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6951" y="2240280"/>
            <a:ext cx="196596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81543" y="2432304"/>
            <a:ext cx="448056" cy="448056"/>
          </a:xfrm>
          <a:prstGeom prst="roundRect">
            <a:avLst/>
          </a:prstGeom>
          <a:solidFill>
            <a:srgbClr val="8A6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1543" y="2551176"/>
            <a:ext cx="448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9831" y="3127248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跟踪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36393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指标、数据与复盘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3" y="296265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2100" b="1">
                <a:solidFill>
                  <a:srgbClr val="617487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59" y="2240280"/>
            <a:ext cx="196596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31551" y="2432304"/>
            <a:ext cx="448056" cy="448056"/>
          </a:xfrm>
          <a:prstGeom prst="round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31551" y="2551176"/>
            <a:ext cx="448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39" y="3127248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沟通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39" y="36393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披露、对话与改进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92040"/>
            <a:ext cx="11045952" cy="658368"/>
          </a:xfrm>
          <a:prstGeom prst="roundRect">
            <a:avLst/>
          </a:prstGeom>
          <a:solidFill>
            <a:srgbClr val="E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084064"/>
            <a:ext cx="10469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C8C70"/>
                </a:solidFill>
                <a:latin typeface="Microsoft YaHei"/>
              </a:rPr>
              <a:t>核心：把重要议题放进决策与持续改进，而不止停留在宣传或报告。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第二节  发展历程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现代 ESG 发展的若干节点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时间线是若干代表性节点，不代表 ESG 思想从某一年才开始。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788920"/>
            <a:ext cx="10241280" cy="41148"/>
          </a:xfrm>
          <a:prstGeom prst="rect">
            <a:avLst/>
          </a:prstGeom>
          <a:solidFill>
            <a:srgbClr val="DC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560320"/>
            <a:ext cx="457200" cy="457200"/>
          </a:xfrm>
          <a:prstGeom prst="round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688336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42316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>
                <a:solidFill>
                  <a:srgbClr val="2C8C70"/>
                </a:solidFill>
                <a:latin typeface="Microsoft YaHei"/>
              </a:rPr>
              <a:t>2004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73552"/>
            <a:ext cx="24688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议题进入金融讨论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22191"/>
            <a:ext cx="248716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《Who Cares Wins》倡议金融市场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更系统关注 ESG 因素。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3" y="2560320"/>
            <a:ext cx="457200" cy="457200"/>
          </a:xfrm>
          <a:prstGeom prst="roundRect">
            <a:avLst/>
          </a:prstGeom>
          <a:solidFill>
            <a:srgbClr val="487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2688336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1783080"/>
            <a:ext cx="242316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>
                <a:solidFill>
                  <a:srgbClr val="4879B5"/>
                </a:solidFill>
                <a:latin typeface="Microsoft YaHei"/>
              </a:rPr>
              <a:t>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3273552"/>
            <a:ext cx="24688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投资实践推进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822191"/>
            <a:ext cx="248716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联合国负责任投资原则（PRI）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发布，倡导投资决策纳入 ESG。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560320"/>
            <a:ext cx="457200" cy="457200"/>
          </a:xfrm>
          <a:prstGeom prst="roundRect">
            <a:avLst/>
          </a:prstGeom>
          <a:solidFill>
            <a:srgbClr val="D57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688336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783080"/>
            <a:ext cx="242316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>
                <a:solidFill>
                  <a:srgbClr val="D57B46"/>
                </a:solidFill>
                <a:latin typeface="Microsoft YaHei"/>
              </a:rPr>
              <a:t>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273552"/>
            <a:ext cx="24688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全球目标形成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822191"/>
            <a:ext cx="248716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联合国通过《2030 年可持续发展议程》，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包括 17 项 SDGs。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2560320"/>
            <a:ext cx="457200" cy="457200"/>
          </a:xfrm>
          <a:prstGeom prst="roundRect">
            <a:avLst/>
          </a:prstGeom>
          <a:solidFill>
            <a:srgbClr val="8A6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688336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1783080"/>
            <a:ext cx="242316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>
                <a:solidFill>
                  <a:srgbClr val="8A6CB1"/>
                </a:solidFill>
                <a:latin typeface="Microsoft YaHei"/>
              </a:rPr>
              <a:t>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273552"/>
            <a:ext cx="24688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披露准则发布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3822191"/>
            <a:ext cx="248716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ISSB 发布 IFRS S1 与 IFRS S2，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为可持续相关披露提供基准。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833872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2"/>
              </a:rPr>
              <a:t>来源：UN Global Compact（2004）；PRI；联合国《2030年议程》（2015）；IFRS Foundation（2023）。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第一节  概念与体系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ESG不是一个统一的“分数”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提醒学生：不同评级/标准的目的、范围、指标与权重可能不同，不能只看单一排名。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10716768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2880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2C8C70"/>
                </a:solidFill>
                <a:latin typeface="Microsoft YaHei"/>
              </a:rPr>
              <a:t>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47088"/>
            <a:ext cx="81381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83149"/>
                </a:solidFill>
                <a:latin typeface="Microsoft YaHei"/>
              </a:rPr>
              <a:t>组织面对什么环境、社会与治理问题？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624328"/>
            <a:ext cx="10716768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78892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4879B5"/>
                </a:solidFill>
                <a:latin typeface="Microsoft YaHei"/>
              </a:rPr>
              <a:t>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07208"/>
            <a:ext cx="81381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83149"/>
                </a:solidFill>
                <a:latin typeface="Microsoft YaHei"/>
              </a:rPr>
              <a:t>如何设定责任、目标并采取行动？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84448"/>
            <a:ext cx="10716768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49039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D57B46"/>
                </a:solidFill>
                <a:latin typeface="Microsoft YaHei"/>
              </a:rPr>
              <a:t>披露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67328"/>
            <a:ext cx="81381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83149"/>
                </a:solidFill>
                <a:latin typeface="Microsoft YaHei"/>
              </a:rPr>
              <a:t>哪些信息需要被记录、衡量与沟通？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544568"/>
            <a:ext cx="10716768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09160"/>
            <a:ext cx="1417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8A6CB1"/>
                </a:solidFill>
                <a:latin typeface="Microsoft YaHei"/>
              </a:rPr>
              <a:t>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27448"/>
            <a:ext cx="81381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183149"/>
                </a:solidFill>
                <a:latin typeface="Microsoft YaHei"/>
              </a:rPr>
              <a:t>评价者依据什么方法与数据作出判断？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742432"/>
            <a:ext cx="10058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10243A"/>
                </a:solidFill>
                <a:latin typeface="Microsoft YaHei"/>
              </a:rPr>
              <a:t>概念视角 ≠ 披露标准 ≠ 评级方法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第三节  ESG 与可持续发展目标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ESG 与 SDGs：目标和视角相连，但不是一回事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把“希望实现什么”与“组织如何识别并管理自身议题”作对照。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5285232" cy="340156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45262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SDGs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06624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C7D7E1"/>
                </a:solidFill>
                <a:latin typeface="Microsoft YaHei"/>
              </a:rPr>
              <a:t>面向全球共同发展的目标议程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83280"/>
            <a:ext cx="4526280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联合国《2030年议程》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17 项目标 · 169 项具体目标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关注经济、社会与环境的综合发展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64208"/>
            <a:ext cx="528523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993392"/>
            <a:ext cx="45262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3100" b="1">
                <a:solidFill>
                  <a:srgbClr val="2C8C70"/>
                </a:solidFill>
                <a:latin typeface="Microsoft YaHei"/>
              </a:rPr>
              <a:t>ESG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706624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183149"/>
                </a:solidFill>
                <a:latin typeface="Microsoft YaHei"/>
              </a:rPr>
              <a:t>组织分析与管理议题的视角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383280"/>
            <a:ext cx="4526280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617487"/>
                </a:solidFill>
                <a:latin typeface="Microsoft YaHei"/>
              </a:rPr>
              <a:t>结合组织活动与相关方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617487"/>
                </a:solidFill>
                <a:latin typeface="Microsoft YaHei"/>
              </a:rPr>
              <a:t>识别议题、管理影响与风险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617487"/>
                </a:solidFill>
                <a:latin typeface="Microsoft YaHei"/>
              </a:rPr>
              <a:t>支持决策、行动与信息沟通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46811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C8C70"/>
                </a:solidFill>
                <a:latin typeface="Microsoft YaHei"/>
              </a:rPr>
              <a:t>SDGs 提供共同方向       ESG 帮助组织审视自身行动       两者通过具体目标与结果衔接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05332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2"/>
              </a:rPr>
              <a:t>来源：联合国《2030年可持续发展议程》（A/RES/70/1）。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第三节  ESG 与可持续发展目标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一个行动，可以连接多个目标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这是课堂示例映射，不是官方唯一对应关系；应依据企业活动、证据与实际结果判断。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6420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183149"/>
                </a:solidFill>
                <a:latin typeface="Microsoft YaHei"/>
              </a:rPr>
              <a:t>示例：食品企业改善供应链与工厂运营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313432"/>
            <a:ext cx="108356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441448"/>
            <a:ext cx="530352" cy="512064"/>
          </a:xfrm>
          <a:prstGeom prst="roundRect">
            <a:avLst/>
          </a:prstGeom>
          <a:solidFill>
            <a:srgbClr val="E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9463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2C8C70"/>
                </a:solidFill>
                <a:latin typeface="Microsoft YaHei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423160"/>
            <a:ext cx="39136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83149"/>
                </a:solidFill>
                <a:latin typeface="Microsoft YaHei"/>
              </a:rPr>
              <a:t>工厂节能、减少食物损耗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2441448"/>
            <a:ext cx="5486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SDG 7 清洁能源  ·  SDG 12 负责任消费和生产  ·  SDG 13 气候行动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300984"/>
            <a:ext cx="108356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429000"/>
            <a:ext cx="530352" cy="512064"/>
          </a:xfrm>
          <a:prstGeom prst="roundRect">
            <a:avLst/>
          </a:prstGeom>
          <a:solidFill>
            <a:srgbClr val="FB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57015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D57B46"/>
                </a:solidFill>
                <a:latin typeface="Microsoft YaHei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3410712"/>
            <a:ext cx="39136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83149"/>
                </a:solidFill>
                <a:latin typeface="Microsoft YaHei"/>
              </a:rPr>
              <a:t>保障员工安全、改善供应商劳动条件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3429000"/>
            <a:ext cx="5486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SDG 3 良好健康与福祉  ·  SDG 8 体面工作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4288536"/>
            <a:ext cx="1083564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416551"/>
            <a:ext cx="530352" cy="512064"/>
          </a:xfrm>
          <a:prstGeom prst="roundRect">
            <a:avLst/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44568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4879B5"/>
                </a:solidFill>
                <a:latin typeface="Microsoft YaHei"/>
              </a:rP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4398264"/>
            <a:ext cx="39136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183149"/>
                </a:solidFill>
                <a:latin typeface="Microsoft YaHei"/>
              </a:rPr>
              <a:t>明确董事会监督、公开目标与进展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416551"/>
            <a:ext cx="5486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617487"/>
                </a:solidFill>
                <a:latin typeface="Microsoft YaHei"/>
              </a:rPr>
              <a:t>SDG 12 负责任消费和生产  ·  SDG 16 和平、正义与强大机构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50992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600" b="1">
                <a:solidFill>
                  <a:srgbClr val="10243A"/>
                </a:solidFill>
                <a:latin typeface="Microsoft YaHei"/>
              </a:rPr>
              <a:t>一个 SDG 可能涉及多个维度；一个 ESG 行动也可能关联多个 SDGs。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第四节  中国实践意义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ESG在中国：从发展要求走向经营实践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双碳目标是国家层面的方向；企业路径、指标与转型节奏需要结合行业和实际情况。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502152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901952"/>
            <a:ext cx="128016" cy="42976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92807"/>
            <a:ext cx="2743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绿色低碳转型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06040"/>
            <a:ext cx="2980944" cy="8138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关注能源、排放、资源效率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识别转型风险与技术机会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664208"/>
            <a:ext cx="3502152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3712" y="1901952"/>
            <a:ext cx="128016" cy="429768"/>
          </a:xfrm>
          <a:prstGeom prst="rect">
            <a:avLst/>
          </a:prstGeom>
          <a:solidFill>
            <a:srgbClr val="D57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892807"/>
            <a:ext cx="2743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发展与民生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2980944" cy="8138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兼顾员工安全、产品责任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供应链与社区影响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64208"/>
            <a:ext cx="3502152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901952"/>
            <a:ext cx="128016" cy="429768"/>
          </a:xfrm>
          <a:prstGeom prst="rect">
            <a:avLst/>
          </a:prstGeom>
          <a:solidFill>
            <a:srgbClr val="487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892807"/>
            <a:ext cx="2743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治理与透明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606040"/>
            <a:ext cx="2980944" cy="8138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明确管理责任、加强风险控制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用可核验信息回应相关方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33087"/>
            <a:ext cx="11036808" cy="1170432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1655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AFC1CE"/>
                </a:solidFill>
                <a:latin typeface="Microsoft YaHei"/>
              </a:rPr>
              <a:t>国家目标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61688"/>
            <a:ext cx="8732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力争 2030 年前实现碳达峰，努力争取 2060 年前实现碳中和。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65099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2024 年沪深交易所发布上市公司可持续发展报告指引（试行），推动相关披露规范化。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08076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2"/>
              </a:rPr>
              <a:t>来源：中共中央、国务院（2021）；国务院《2030年前碳达峰行动方案》（2021）；上交所指引（2024）。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第四节  中国实践意义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情境练习：新工厂选址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邀请学生不要急于下结论，先区分事实、风险、受影响者与可采取的措施。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703320" cy="3977639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2926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E8B75A"/>
                </a:solidFill>
                <a:latin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29260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一家食品企业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计划建设新工厂。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407408"/>
            <a:ext cx="29260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C7D7E1"/>
                </a:solidFill>
                <a:latin typeface="Microsoft YaHei"/>
              </a:rPr>
              <a:t>请用 ESG 视角做初步“体检”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874519"/>
            <a:ext cx="68122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084831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2C8C70"/>
                </a:solidFill>
                <a:latin typeface="Microsoft YaHei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93976"/>
            <a:ext cx="5440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183149"/>
                </a:solidFill>
                <a:latin typeface="Microsoft YaHei"/>
              </a:rPr>
              <a:t>用水、能耗、排放与周边生态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980944"/>
            <a:ext cx="68122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3191256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D57B46"/>
                </a:solidFill>
                <a:latin typeface="Microsoft YaHei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00400"/>
            <a:ext cx="5440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183149"/>
                </a:solidFill>
                <a:latin typeface="Microsoft YaHei"/>
              </a:rPr>
              <a:t>员工安全、消费者与社区沟通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4087368"/>
            <a:ext cx="68122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429768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900" b="1">
                <a:solidFill>
                  <a:srgbClr val="4879B5"/>
                </a:solidFill>
                <a:latin typeface="Microsoft YaHei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306824"/>
            <a:ext cx="5440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183149"/>
                </a:solidFill>
                <a:latin typeface="Microsoft YaHei"/>
              </a:rPr>
              <a:t>选址决策、监督责任与信息披露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1728" y="5349240"/>
            <a:ext cx="6812280" cy="502920"/>
          </a:xfrm>
          <a:prstGeom prst="roundRect">
            <a:avLst/>
          </a:prstGeom>
          <a:solidFill>
            <a:srgbClr val="E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5495544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2C8C70"/>
                </a:solidFill>
                <a:latin typeface="Microsoft YaHei"/>
              </a:rPr>
              <a:t>每组提出 1 个优先议题 + 1 条可执行建议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课堂讨论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小组讨论：什么才算“做得好”？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建议 5 分钟讨论、每组 1 分钟汇报；鼓励学生给出证据和权衡，而非只喊口号。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84831"/>
            <a:ext cx="350215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377440"/>
            <a:ext cx="685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2C8C70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889504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1">
                <a:solidFill>
                  <a:srgbClr val="183149"/>
                </a:solidFill>
                <a:latin typeface="Microsoft YaHei"/>
              </a:rPr>
              <a:t>谁受影响？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511296"/>
            <a:ext cx="2889504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识别员工、消费者、社区、供应商与投资者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084831"/>
            <a:ext cx="350215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377440"/>
            <a:ext cx="685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D57B46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889504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1">
                <a:solidFill>
                  <a:srgbClr val="183149"/>
                </a:solidFill>
                <a:latin typeface="Microsoft YaHei"/>
              </a:rPr>
              <a:t>优先做什么？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511296"/>
            <a:ext cx="2889504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说明最重要的议题及判断依据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084831"/>
            <a:ext cx="350215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2377440"/>
            <a:ext cx="685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4879B5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889504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000" b="1">
                <a:solidFill>
                  <a:srgbClr val="183149"/>
                </a:solidFill>
                <a:latin typeface="Microsoft YaHei"/>
              </a:rPr>
              <a:t>如何证明？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3511296"/>
            <a:ext cx="2889504" cy="5577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617487"/>
                </a:solidFill>
                <a:latin typeface="Microsoft YaHei"/>
              </a:rPr>
              <a:t>提出一个可观察的指标或证据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102352"/>
            <a:ext cx="106070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0243A"/>
                </a:solidFill>
                <a:latin typeface="Microsoft YaHei"/>
              </a:rPr>
              <a:t>汇报结构：议题 → 受影响者 → 行动建议 → 证据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本章小结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离场问题：写下你最想继续了解的一个 ESG 议题，以及一个理由。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2C8C70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709928"/>
            <a:ext cx="182880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ESG 看什么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1728216"/>
            <a:ext cx="70408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环境、社会与治理三个相互关联的维度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267712"/>
            <a:ext cx="10378440" cy="16459"/>
          </a:xfrm>
          <a:prstGeom prst="rect">
            <a:avLst/>
          </a:prstGeom>
          <a:solidFill>
            <a:srgbClr val="DC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4879B5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624328"/>
            <a:ext cx="182880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ESG 怎么用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642616"/>
            <a:ext cx="70408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识别议题，管理行动，跟踪并沟通结果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182112"/>
            <a:ext cx="10378440" cy="16459"/>
          </a:xfrm>
          <a:prstGeom prst="rect">
            <a:avLst/>
          </a:prstGeom>
          <a:solidFill>
            <a:srgbClr val="DC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D57B46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538728"/>
            <a:ext cx="182880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ESG 与 SDGs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557016"/>
            <a:ext cx="70408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目标议程与组织视角不同，可由具体行动衔接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4096512"/>
            <a:ext cx="10378440" cy="16459"/>
          </a:xfrm>
          <a:prstGeom prst="rect">
            <a:avLst/>
          </a:prstGeom>
          <a:solidFill>
            <a:srgbClr val="DC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594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1">
                <a:solidFill>
                  <a:srgbClr val="8A6CB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453128"/>
            <a:ext cx="182880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83149"/>
                </a:solidFill>
                <a:latin typeface="Microsoft YaHei"/>
              </a:rPr>
              <a:t>中国实践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471416"/>
            <a:ext cx="70408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>
                <a:solidFill>
                  <a:srgbClr val="617487"/>
                </a:solidFill>
                <a:latin typeface="Microsoft YaHei"/>
              </a:rPr>
              <a:t>结合发展情境，把议题落到责任、决策与证据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5010912"/>
            <a:ext cx="10378440" cy="16459"/>
          </a:xfrm>
          <a:prstGeom prst="rect">
            <a:avLst/>
          </a:prstGeom>
          <a:solidFill>
            <a:srgbClr val="DC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5559552"/>
            <a:ext cx="10378440" cy="512064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705856"/>
            <a:ext cx="9921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ESG不是“贴标签”，而是把重要议题变成可负责、可衡量、可改进的行动。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2C8C70"/>
                </a:solidFill>
                <a:latin typeface="Microsoft YaHei"/>
              </a:rPr>
              <a:t>拓展阅读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2700" b="1">
                <a:solidFill>
                  <a:srgbClr val="183149"/>
                </a:solidFill>
                <a:latin typeface="Microsoft YaHei"/>
              </a:rPr>
              <a:t>参考资料与使用说明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502920" cy="41148"/>
          </a:xfrm>
          <a:prstGeom prst="rect">
            <a:avLst/>
          </a:prstGeom>
          <a:solidFill>
            <a:srgbClr val="2C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0241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教学提示  本课件依据公开资料独立整理；未复现或声称引用教材原文。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2C8C70"/>
                </a:solidFill>
                <a:latin typeface="Microsoft YaHei"/>
              </a:rPr>
              <a:t>发展历程与全球框架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2"/>
              </a:rPr>
              <a:t>• UN Global Compact, Who Cares Wins (2004)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3"/>
              </a:rPr>
              <a:t>• UN News, Principles for Responsible Investment launch (2006)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72384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4"/>
              </a:rPr>
              <a:t>• United Nations, Transforming our world: the 2030 Agenda (2015)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602736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5"/>
              </a:rPr>
              <a:t>• IFRS Foundation, ISSB issues IFRS S1 and IFRS S2 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5196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1">
                <a:solidFill>
                  <a:srgbClr val="4879B5"/>
                </a:solidFill>
                <a:latin typeface="Microsoft YaHei"/>
              </a:rPr>
              <a:t>中国政策与披露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17720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6"/>
              </a:rPr>
              <a:t>• 中共中央、国务院：关于完整准确全面贯彻新发展理念做好碳达峰碳中和工作的意见（2021）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56631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7"/>
              </a:rPr>
              <a:t>• 国务院：2030年前碳达峰行动方案（2021）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495544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617487"/>
                </a:solidFill>
                <a:latin typeface="Microsoft YaHei"/>
                <a:hlinkClick r:id="rId8"/>
              </a:rPr>
              <a:t>• 上海证券交易所：上市公司自律监管指引第14号——可持续发展报告（试行）（2024）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961888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0">
                <a:solidFill>
                  <a:srgbClr val="617487"/>
                </a:solidFill>
                <a:latin typeface="Microsoft YaHei"/>
              </a:rPr>
              <a:t>资料核验：2026-10-16  ·  公开资料用于课堂导读，具体规则适用范围以发布机构原文为准。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ESG理论与实践｜第一章 绪论</dc:title>
  <dc:subject>本科课堂教学课件：ESG概念、发展历程、SDGs关联与中国实践</dc:subject>
  <dc:creator>课程教学材料</dc:creator>
  <cp:keywords>ESG, SDGs, 本科教学, 绪论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